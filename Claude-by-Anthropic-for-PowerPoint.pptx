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9" r:id="rId5"/>
    <p:sldId id="270" r:id="rId6"/>
    <p:sldId id="271" r:id="rId7"/>
    <p:sldId id="272" r:id="rId8"/>
    <p:sldId id="273" r:id="rId9"/>
    <p:sldId id="274" r:id="rId10"/>
    <p:sldId id="279" r:id="rId11"/>
    <p:sldId id="280" r:id="rId12"/>
    <p:sldId id="281" r:id="rId13"/>
    <p:sldId id="2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75" d="100"/>
          <a:sy n="75" d="100"/>
        </p:scale>
        <p:origin x="58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30817-A13E-B0E7-6556-086EFE61BD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ko-KR" sz="4400" b="1" dirty="0"/>
              <a:t>바이브 코딩</a:t>
            </a:r>
          </a:p>
          <a:p>
            <a:pPr algn="ctr">
              <a:buNone/>
            </a:pPr>
            <a:r>
              <a:rPr lang="ko-KR" sz="2800" b="1" dirty="0">
                <a:solidFill>
                  <a:schemeClr val="accent1"/>
                </a:solidFill>
              </a:rPr>
              <a:t>AI로 설계하고 지식까지 자산화하는 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B436EB-D5B8-4830-0F96-9C18E3BF3B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ko-KR" sz="2000" dirty="0"/>
              <a:t>오픈 세미나 · 핸즈온</a:t>
            </a:r>
          </a:p>
          <a:p>
            <a:pPr algn="ctr">
              <a:buNone/>
            </a:pPr>
            <a:r>
              <a:rPr lang="ko-KR" sz="1600" dirty="0">
                <a:solidFill>
                  <a:schemeClr val="tx2"/>
                </a:solidFill>
              </a:rPr>
              <a:t>2026. 5. 11 (월) 21:00</a:t>
            </a:r>
          </a:p>
        </p:txBody>
      </p:sp>
    </p:spTree>
    <p:extLst>
      <p:ext uri="{BB962C8B-B14F-4D97-AF65-F5344CB8AC3E}">
        <p14:creationId xmlns:p14="http://schemas.microsoft.com/office/powerpoint/2010/main" val="3384933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40C7FC-9575-66AB-DE4E-ED71412B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600" b="1" dirty="0"/>
              <a:t>세미나 취지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64BA65-E96E-C0C7-6B51-1082CF363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sz="2400" b="1" dirty="0">
                <a:solidFill>
                  <a:schemeClr val="accent1"/>
                </a:solidFill>
              </a:rPr>
              <a:t>"AI는 보조자가 아니라, 더 강력한 날개입니다."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ko-KR" sz="1800" dirty="0"/>
              <a:t>단순 코드 생성기를 넘어, </a:t>
            </a:r>
            <a:r>
              <a:rPr lang="ko-KR" sz="1800" b="1" dirty="0"/>
              <a:t>비즈니스 아키텍처와 지식 관리의 파트너</a:t>
            </a:r>
            <a:r>
              <a:rPr lang="ko-KR" sz="1800" dirty="0"/>
              <a:t>로 활용</a:t>
            </a:r>
          </a:p>
          <a:p>
            <a:pPr marL="228600" indent="-228600">
              <a:buFont typeface="Arial"/>
              <a:buChar char="•"/>
            </a:pPr>
            <a:r>
              <a:rPr lang="ko-KR" sz="1800" dirty="0"/>
              <a:t>AI 코딩 도구의 </a:t>
            </a:r>
            <a:r>
              <a:rPr lang="ko-KR" sz="1800" b="1" dirty="0"/>
              <a:t>'세션 유지 능력'</a:t>
            </a:r>
            <a:r>
              <a:rPr lang="ko-KR" sz="1800" dirty="0"/>
              <a:t>을 극대화 → 지식을 나만의 자산으로 축적</a:t>
            </a:r>
          </a:p>
          <a:p>
            <a:pPr marL="228600" indent="-228600">
              <a:buFont typeface="Arial"/>
              <a:buChar char="•"/>
            </a:pPr>
            <a:r>
              <a:rPr lang="ko-KR" sz="1800" dirty="0"/>
              <a:t>ChatGPT · Gemini 활용에서 </a:t>
            </a:r>
            <a:r>
              <a:rPr lang="ko-KR" sz="1800" b="1" dirty="0"/>
              <a:t>한 단계 더 나아가는 실질적 방법론</a:t>
            </a:r>
            <a:r>
              <a:rPr lang="ko-KR" sz="1800" dirty="0"/>
              <a:t> 공유</a:t>
            </a:r>
          </a:p>
          <a:p>
            <a:pPr marL="228600" indent="-228600">
              <a:buFont typeface="Arial"/>
              <a:buChar char="•"/>
            </a:pPr>
            <a:r>
              <a:rPr lang="ko-KR" sz="1800" dirty="0"/>
              <a:t>AI 백엔드 개발자 부트캠프 미니 · 조별 프로젝트 진입 전 </a:t>
            </a:r>
            <a:r>
              <a:rPr lang="ko-KR" sz="1800" b="1" dirty="0"/>
              <a:t>핵심 핸즈온</a:t>
            </a:r>
          </a:p>
        </p:txBody>
      </p:sp>
    </p:spTree>
    <p:extLst>
      <p:ext uri="{BB962C8B-B14F-4D97-AF65-F5344CB8AC3E}">
        <p14:creationId xmlns:p14="http://schemas.microsoft.com/office/powerpoint/2010/main" val="1746888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CDB88-CF80-72C8-3C61-D01E92292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600" b="1" dirty="0"/>
              <a:t>AI 코딩 도구의 기본 원리</a:t>
            </a:r>
            <a:r>
              <a:rPr lang="ko-KR" sz="2000" dirty="0">
                <a:solidFill>
                  <a:schemeClr val="tx2"/>
                </a:solidFill>
              </a:rPr>
              <a:t>   |   어떤 도구든 원리는 같습니다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537D98-D0DE-8927-D7E6-011AF028C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ko-KR" sz="2000" b="1" dirty="0">
                <a:solidFill>
                  <a:schemeClr val="accent1"/>
                </a:solidFill>
              </a:rPr>
              <a:t>컨텍스트(Context)가 전부다</a:t>
            </a:r>
          </a:p>
          <a:p>
            <a:pPr marL="457200" lvl="1" indent="-228600">
              <a:buFont typeface="Arial"/>
              <a:buChar char="–"/>
            </a:pPr>
            <a:r>
              <a:rPr lang="ko-KR" sz="1600" dirty="0"/>
              <a:t>모델은 '주어진 컨텍스트' 안에서만 생각합니다 — 무엇을 넣느냐가 결과를 결정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ko-KR" sz="2000" b="1" dirty="0">
                <a:solidFill>
                  <a:schemeClr val="accent1"/>
                </a:solidFill>
              </a:rPr>
              <a:t>세션 유지 (Session Continuity)</a:t>
            </a:r>
          </a:p>
          <a:p>
            <a:pPr marL="457200" lvl="1" indent="-228600">
              <a:buFont typeface="Arial"/>
              <a:buChar char="–"/>
            </a:pPr>
            <a:r>
              <a:rPr lang="ko-KR" sz="1600" dirty="0"/>
              <a:t>일회성 질의 → 누적되는 작업 흐름. 코드·문서·결정 이력이 한 세션에 살아 있어야 함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ko-KR" sz="2000" b="1" dirty="0">
                <a:solidFill>
                  <a:schemeClr val="accent1"/>
                </a:solidFill>
              </a:rPr>
              <a:t>도구 호출 (Tool Use / Agent)</a:t>
            </a:r>
          </a:p>
          <a:p>
            <a:pPr marL="457200" lvl="1" indent="-228600">
              <a:buFont typeface="Arial"/>
              <a:buChar char="–"/>
            </a:pPr>
            <a:r>
              <a:rPr lang="ko-KR" sz="1600" dirty="0"/>
              <a:t>파일 읽기·실행·검색을 LLM이 직접 호출 → 코드를 '쓰는' 단계에서 '실행·검증'하는 단계로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ko-KR" sz="2000" b="1" dirty="0">
                <a:solidFill>
                  <a:schemeClr val="accent1"/>
                </a:solidFill>
              </a:rPr>
              <a:t>아키텍처 → 구현 → 검증의 루프</a:t>
            </a:r>
          </a:p>
          <a:p>
            <a:pPr marL="457200" lvl="1" indent="-228600">
              <a:buFont typeface="Arial"/>
              <a:buChar char="–"/>
            </a:pPr>
            <a:r>
              <a:rPr lang="ko-KR" sz="1600" dirty="0"/>
              <a:t>설계 의도를 명확히 전달할수록 AI 출력 품질이 비선형적으로 상승</a:t>
            </a:r>
          </a:p>
        </p:txBody>
      </p:sp>
    </p:spTree>
    <p:extLst>
      <p:ext uri="{BB962C8B-B14F-4D97-AF65-F5344CB8AC3E}">
        <p14:creationId xmlns:p14="http://schemas.microsoft.com/office/powerpoint/2010/main" val="2582470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54975A-C36E-950D-B3A7-6E58E52A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600" b="1" dirty="0"/>
              <a:t>VS Code &amp; Copilot 바이브 코딩</a:t>
            </a:r>
            <a:r>
              <a:rPr lang="ko-KR" sz="2000" dirty="0">
                <a:solidFill>
                  <a:schemeClr val="tx2"/>
                </a:solidFill>
              </a:rPr>
              <a:t>   |   25:00 ~ 45:00 핸즈온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B878D2-62DE-E87B-7B05-7EA6BFD8E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sz="2000" b="1" dirty="0">
                <a:solidFill>
                  <a:schemeClr val="accent1"/>
                </a:solidFill>
              </a:rPr>
              <a:t>실습 흐름</a:t>
            </a:r>
          </a:p>
          <a:p>
            <a:pPr marL="228600" indent="-228600">
              <a:buFont typeface="+mj-lt"/>
              <a:buAutoNum type="arabicPeriod"/>
            </a:pPr>
            <a:r>
              <a:rPr lang="ko-KR" sz="1700" b="1" dirty="0"/>
              <a:t>요구사항을 자연어로 정리</a:t>
            </a:r>
            <a:r>
              <a:rPr lang="ko-KR" sz="1700" dirty="0"/>
              <a:t> — '무엇을, 왜'를 먼저 작성</a:t>
            </a:r>
          </a:p>
          <a:p>
            <a:pPr marL="228600" indent="-228600">
              <a:buFont typeface="+mj-lt"/>
              <a:buAutoNum type="arabicPeriod"/>
            </a:pPr>
            <a:r>
              <a:rPr lang="ko-KR" sz="1700" b="1" dirty="0"/>
              <a:t>Copilot Chat에 컨텍스트 주입</a:t>
            </a:r>
            <a:r>
              <a:rPr lang="ko-KR" sz="1700" dirty="0"/>
              <a:t> — @workspace, #file 활용</a:t>
            </a:r>
          </a:p>
          <a:p>
            <a:pPr marL="228600" indent="-228600">
              <a:buFont typeface="+mj-lt"/>
              <a:buAutoNum type="arabicPeriod"/>
            </a:pPr>
            <a:r>
              <a:rPr lang="ko-KR" sz="1700" b="1" dirty="0"/>
              <a:t>인라인 제안 → 단위 테스트</a:t>
            </a:r>
            <a:r>
              <a:rPr lang="ko-KR" sz="1700" dirty="0"/>
              <a:t> — 코드 받자마자 검증 루프</a:t>
            </a:r>
          </a:p>
          <a:p>
            <a:pPr marL="228600" indent="-228600">
              <a:buFont typeface="+mj-lt"/>
              <a:buAutoNum type="arabicPeriod"/>
            </a:pPr>
            <a:r>
              <a:rPr lang="ko-KR" sz="1700" b="1" dirty="0"/>
              <a:t>리팩토링 / 설명 요청</a:t>
            </a:r>
            <a:r>
              <a:rPr lang="ko-KR" sz="1700" dirty="0"/>
              <a:t> — '왜 이렇게 짰는지' 받아 학습 자산화</a:t>
            </a:r>
          </a:p>
          <a:p>
            <a:pPr marL="0" indent="0">
              <a:buNone/>
            </a:pPr>
            <a:r>
              <a:rPr lang="ko-KR" sz="1600" i="1" dirty="0">
                <a:solidFill>
                  <a:schemeClr val="tx2"/>
                </a:solidFill>
              </a:rPr>
              <a:t>💡 핵심: "코드를 받는 것"보다 "맥락을 정리하고 검증하는 습관"이 생산성을 만든다</a:t>
            </a:r>
          </a:p>
          <a:p>
            <a:pPr marL="0" indent="0">
              <a:buNone/>
            </a:pPr>
            <a:r>
              <a:rPr lang="ko-KR" sz="1500" dirty="0">
                <a:solidFill>
                  <a:schemeClr val="tx2"/>
                </a:solidFill>
              </a:rPr>
              <a:t>※ 실습 준비물: VS Code + GitHub Copilot (무료 체험 가능)</a:t>
            </a:r>
          </a:p>
        </p:txBody>
      </p:sp>
    </p:spTree>
    <p:extLst>
      <p:ext uri="{BB962C8B-B14F-4D97-AF65-F5344CB8AC3E}">
        <p14:creationId xmlns:p14="http://schemas.microsoft.com/office/powerpoint/2010/main" val="3126032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99EFE-0AFB-7150-8B2E-6F09EB14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600" b="1" dirty="0"/>
              <a:t>Google Antigravity로 지식 자산화</a:t>
            </a:r>
            <a:r>
              <a:rPr lang="ko-KR" sz="2000" dirty="0">
                <a:solidFill>
                  <a:schemeClr val="tx2"/>
                </a:solidFill>
              </a:rPr>
              <a:t>   |   45:00 ~ 1:05:00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FFCD80-2E24-4716-1BCE-B439BD1D8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sz="1900" b="1" dirty="0">
                <a:solidFill>
                  <a:schemeClr val="accent1"/>
                </a:solidFill>
              </a:rPr>
              <a:t>왜 Antigravity인가</a:t>
            </a:r>
          </a:p>
          <a:p>
            <a:pPr marL="228600" indent="-228600">
              <a:buFont typeface="Arial"/>
              <a:buChar char="•"/>
            </a:pPr>
            <a:r>
              <a:rPr lang="ko-KR" sz="1600" dirty="0"/>
              <a:t>긴 세미나 영상 · PDF · 학습 자료를 </a:t>
            </a:r>
            <a:r>
              <a:rPr lang="ko-KR" sz="1600" b="1" dirty="0"/>
              <a:t>한 세션에 누적</a:t>
            </a:r>
            <a:r>
              <a:rPr lang="ko-KR" sz="1600" dirty="0"/>
              <a:t>해 다룰 수 있는 컨텍스트 폭</a:t>
            </a:r>
          </a:p>
          <a:p>
            <a:pPr marL="228600" indent="-228600">
              <a:buFont typeface="Arial"/>
              <a:buChar char="•"/>
            </a:pPr>
            <a:r>
              <a:rPr lang="ko-KR" sz="1600" dirty="0"/>
              <a:t>코드 + 문서를 동시에 다루는 </a:t>
            </a:r>
            <a:r>
              <a:rPr lang="ko-KR" sz="1600" b="1" dirty="0"/>
              <a:t>통합 작업 환경</a:t>
            </a:r>
          </a:p>
          <a:p>
            <a:pPr marL="0" indent="0">
              <a:buNone/>
            </a:pPr>
            <a:r>
              <a:rPr lang="ko-KR" sz="1900" b="1" dirty="0">
                <a:solidFill>
                  <a:schemeClr val="accent1"/>
                </a:solidFill>
              </a:rPr>
              <a:t>핸즈온 시나리오</a:t>
            </a:r>
          </a:p>
          <a:p>
            <a:pPr marL="228600" indent="-228600">
              <a:buFont typeface="+mj-lt"/>
              <a:buAutoNum type="arabicPeriod"/>
            </a:pPr>
            <a:r>
              <a:rPr lang="ko-KR" sz="1600" dirty="0"/>
              <a:t>세미나 영상 자막 / 강의 PDF 입력</a:t>
            </a:r>
          </a:p>
          <a:p>
            <a:pPr marL="228600" indent="-228600">
              <a:buFont typeface="+mj-lt"/>
              <a:buAutoNum type="arabicPeriod"/>
            </a:pPr>
            <a:r>
              <a:rPr lang="ko-KR" sz="1600" dirty="0"/>
              <a:t>주제별 요약 + 핵심 키워드 추출 → 마크다운 노트로 저장</a:t>
            </a:r>
          </a:p>
          <a:p>
            <a:pPr marL="228600" indent="-228600">
              <a:buFont typeface="+mj-lt"/>
              <a:buAutoNum type="arabicPeriod"/>
            </a:pPr>
            <a:r>
              <a:rPr lang="ko-KR" sz="1600" dirty="0"/>
              <a:t>'내 관점'을 더해 재구성 → </a:t>
            </a:r>
            <a:r>
              <a:rPr lang="ko-KR" sz="1600" b="1" dirty="0"/>
              <a:t>나만의 자산</a:t>
            </a:r>
            <a:r>
              <a:rPr lang="ko-KR" sz="1600" dirty="0"/>
              <a:t>으로 축적</a:t>
            </a:r>
          </a:p>
          <a:p>
            <a:pPr marL="228600" indent="-228600">
              <a:buFont typeface="+mj-lt"/>
              <a:buAutoNum type="arabicPeriod"/>
            </a:pPr>
            <a:r>
              <a:rPr lang="ko-KR" sz="1600" dirty="0"/>
              <a:t>다음 세션에서 재호출 → 누적 학습 사이클 완성</a:t>
            </a:r>
          </a:p>
        </p:txBody>
      </p:sp>
    </p:spTree>
    <p:extLst>
      <p:ext uri="{BB962C8B-B14F-4D97-AF65-F5344CB8AC3E}">
        <p14:creationId xmlns:p14="http://schemas.microsoft.com/office/powerpoint/2010/main" val="927642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94644-9128-A407-054A-D7FC1BAC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200" b="1" dirty="0"/>
              <a:t>Snowflake Cortex로</a:t>
            </a:r>
          </a:p>
          <a:p>
            <a:pPr>
              <a:buNone/>
            </a:pPr>
            <a:r>
              <a:rPr lang="ko-KR" sz="3200" b="1" dirty="0">
                <a:solidFill>
                  <a:schemeClr val="accent1"/>
                </a:solidFill>
              </a:rPr>
              <a:t>엔터프라이즈 바이브 코딩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3E6944-C056-E7B9-1AC5-EFCCF242B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ko-KR" sz="1700" b="1" dirty="0"/>
              <a:t>데이터가 있는 곳에서 LLM이 동작</a:t>
            </a:r>
            <a:r>
              <a:rPr lang="ko-KR" sz="1700" dirty="0"/>
              <a:t> — 데이터 이동 없이 SQL · 함수 호출</a:t>
            </a:r>
          </a:p>
          <a:p>
            <a:pPr marL="228600" indent="-228600">
              <a:buFont typeface="Arial"/>
              <a:buChar char="•"/>
            </a:pPr>
            <a:r>
              <a:rPr lang="ko-KR" sz="1700" b="1" dirty="0"/>
              <a:t>거버넌스 · 보안 유지</a:t>
            </a:r>
            <a:r>
              <a:rPr lang="ko-KR" sz="1700" dirty="0"/>
              <a:t> — 민감 데이터를 외부로 보내지 않고 활용</a:t>
            </a:r>
          </a:p>
          <a:p>
            <a:pPr marL="228600" indent="-228600">
              <a:buFont typeface="Arial"/>
              <a:buChar char="•"/>
            </a:pPr>
            <a:r>
              <a:rPr lang="ko-KR" sz="1700" b="1" dirty="0"/>
              <a:t>실무 적용 패턴</a:t>
            </a:r>
            <a:r>
              <a:rPr lang="ko-KR" sz="1700" dirty="0"/>
              <a:t> — RAG · 자연어 분석 · 사내 지식 검색을 한 플랫폼에서</a:t>
            </a:r>
          </a:p>
        </p:txBody>
      </p:sp>
    </p:spTree>
    <p:extLst>
      <p:ext uri="{BB962C8B-B14F-4D97-AF65-F5344CB8AC3E}">
        <p14:creationId xmlns:p14="http://schemas.microsoft.com/office/powerpoint/2010/main" val="3727921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A094B-21B4-A367-9A37-6E0816295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ko-KR" sz="4400" b="1" dirty="0"/>
              <a:t>GitHub 협업 핸즈온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55D592-2D25-36AD-538E-2BB91D011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ko-KR" sz="2000" dirty="0"/>
              <a:t>Fork PR · Branch + Issue 기반 협업 실습</a:t>
            </a:r>
          </a:p>
        </p:txBody>
      </p:sp>
    </p:spTree>
    <p:extLst>
      <p:ext uri="{BB962C8B-B14F-4D97-AF65-F5344CB8AC3E}">
        <p14:creationId xmlns:p14="http://schemas.microsoft.com/office/powerpoint/2010/main" val="1398577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F1778-E2EC-DB3B-7A61-382AA5DF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200" b="1" dirty="0"/>
              <a:t>실습 ① Fork 기반 PR 협업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22310-9834-CBF6-A717-0F41A7CCC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sz="1800" b="1" dirty="0"/>
              <a:t>시나리오</a:t>
            </a:r>
          </a:p>
          <a:p>
            <a:pPr marL="285750" indent="-285750">
              <a:buFont typeface="Arial"/>
              <a:buChar char="•"/>
            </a:pPr>
            <a:r>
              <a:rPr lang="ko-KR" sz="1600" dirty="0"/>
              <a:t>외부 기여자(Worker)가 원본 repo를 fork하여 frontend/app.js의 인사말을 수정 후 PR 제출</a:t>
            </a:r>
          </a:p>
          <a:p>
            <a:pPr marL="285750" indent="-285750">
              <a:buFont typeface="Arial"/>
              <a:buChar char="•"/>
            </a:pPr>
            <a:r>
              <a:rPr lang="ko-KR" sz="1600" dirty="0"/>
              <a:t>PR 방향: hanschoi20:vibe/worker/fork-frontend-greet-1 → llmragdev:main</a:t>
            </a:r>
          </a:p>
          <a:p>
            <a:pPr marL="0" indent="0">
              <a:buNone/>
            </a:pPr>
            <a:endParaRPr lang="ko-KR" sz="800"/>
          </a:p>
          <a:p>
            <a:pPr marL="0" indent="0">
              <a:buNone/>
            </a:pPr>
            <a:r>
              <a:rPr lang="ko-KR" sz="1800" b="1" dirty="0"/>
              <a:t>전체 흐름</a:t>
            </a:r>
          </a:p>
          <a:p>
            <a:pPr marL="0" indent="0" algn="ctr">
              <a:buNone/>
            </a:pPr>
            <a:r>
              <a:rPr lang="en-US" sz="1500" dirty="0">
                <a:latin typeface="Consolas"/>
              </a:rPr>
              <a:t>fork → clone → upstream → branch → edit → commit → push → PR</a:t>
            </a:r>
          </a:p>
          <a:p>
            <a:pPr marL="0" indent="0">
              <a:buNone/>
            </a:pPr>
            <a:endParaRPr lang="ko-KR" sz="800"/>
          </a:p>
          <a:p>
            <a:pPr marL="0" indent="0">
              <a:buNone/>
            </a:pPr>
            <a:r>
              <a:rPr lang="ko-KR" sz="1800" b="1" dirty="0"/>
              <a:t>핵심 명령</a:t>
            </a:r>
          </a:p>
          <a:p>
            <a:pPr marL="285750" indent="-285750">
              <a:buFont typeface="Consolas"/>
              <a:buChar char="›"/>
            </a:pPr>
            <a:r>
              <a:rPr lang="en-US" sz="1500" dirty="0">
                <a:latin typeface="Consolas"/>
              </a:rPr>
              <a:t>gh repo fork llmragdev/vibe-pr-practice --clone=false</a:t>
            </a:r>
          </a:p>
          <a:p>
            <a:pPr marL="285750" indent="-285750">
              <a:buFont typeface="Consolas"/>
              <a:buChar char="›"/>
            </a:pPr>
            <a:r>
              <a:rPr lang="en-US" sz="1500" dirty="0">
                <a:latin typeface="Consolas"/>
              </a:rPr>
              <a:t>gh repo clone hanschoi20/vibe-pr-practice ...-fork-hanschoi20</a:t>
            </a:r>
          </a:p>
          <a:p>
            <a:pPr marL="285750" indent="-285750">
              <a:buFont typeface="Consolas"/>
              <a:buChar char="›"/>
            </a:pPr>
            <a:r>
              <a:rPr lang="en-US" sz="1500" dirty="0">
                <a:latin typeface="Consolas"/>
              </a:rPr>
              <a:t>git remote add upstream https://github.com/llmragdev/vibe-pr-practice.git</a:t>
            </a:r>
          </a:p>
          <a:p>
            <a:pPr marL="285750" indent="-285750">
              <a:buFont typeface="Consolas"/>
              <a:buChar char="›"/>
            </a:pPr>
            <a:r>
              <a:rPr lang="en-US" sz="1500" dirty="0">
                <a:latin typeface="Consolas"/>
              </a:rPr>
              <a:t>git checkout -b vibe/worker/fork-frontend-greet-1</a:t>
            </a:r>
          </a:p>
          <a:p>
            <a:pPr marL="285750" indent="-285750">
              <a:buFont typeface="Consolas"/>
              <a:buChar char="›"/>
            </a:pPr>
            <a:r>
              <a:rPr lang="en-US" sz="1500" dirty="0">
                <a:latin typeface="Consolas"/>
              </a:rPr>
              <a:t>gh pr create --repo llmragdev/... --base main --head hanschoi20:vibe/worker/...</a:t>
            </a:r>
          </a:p>
          <a:p>
            <a:pPr marL="0" indent="0">
              <a:buNone/>
            </a:pPr>
            <a:endParaRPr lang="ko-KR" sz="800"/>
          </a:p>
          <a:p>
            <a:pPr marL="0" indent="0">
              <a:buNone/>
            </a:pPr>
            <a:r>
              <a:rPr lang="ko-KR" sz="1500" i="1" dirty="0">
                <a:solidFill>
                  <a:schemeClr val="accent1"/>
                </a:solidFill>
              </a:rPr>
              <a:t>Tip. gh auth status로 Worker 계정(hanschoi20) 확인 후 진행</a:t>
            </a:r>
          </a:p>
        </p:txBody>
      </p:sp>
    </p:spTree>
    <p:extLst>
      <p:ext uri="{BB962C8B-B14F-4D97-AF65-F5344CB8AC3E}">
        <p14:creationId xmlns:p14="http://schemas.microsoft.com/office/powerpoint/2010/main" val="4208812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F3906-A90F-5881-65FB-C528E9B5A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200" b="1" dirty="0"/>
              <a:t>실습 ② Branch + Issue 기반 PR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A0709F-B716-75F5-696E-F0C8C4EF1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sz="1800" b="1" dirty="0"/>
              <a:t>역할 분담 &amp; 시나리오</a:t>
            </a:r>
          </a:p>
          <a:p>
            <a:pPr marL="285750" indent="-285750">
              <a:buFont typeface="Arial"/>
              <a:buChar char="•"/>
            </a:pPr>
            <a:r>
              <a:rPr lang="ko-KR" sz="1600" b="1" dirty="0"/>
              <a:t>Manager</a:t>
            </a:r>
            <a:r>
              <a:rPr lang="ko-KR" sz="1600" dirty="0"/>
              <a:t> (llmragdev) — Issue 등록 → Review → Merge</a:t>
            </a:r>
          </a:p>
          <a:p>
            <a:pPr marL="285750" indent="-285750">
              <a:buFont typeface="Arial"/>
              <a:buChar char="•"/>
            </a:pPr>
            <a:r>
              <a:rPr lang="ko-KR" sz="1600" b="1" dirty="0"/>
              <a:t>Worker</a:t>
            </a:r>
            <a:r>
              <a:rPr lang="ko-KR" sz="1600" dirty="0"/>
              <a:t> (namkyuglobal2) — Branch → Code → PR</a:t>
            </a:r>
          </a:p>
          <a:p>
            <a:pPr marL="285750" indent="-285750">
              <a:buFont typeface="Arial"/>
              <a:buChar char="•"/>
            </a:pPr>
            <a:r>
              <a:rPr lang="ko-KR" sz="1600" dirty="0"/>
              <a:t>backend/api.js의 health() 가 { status: "ok", version: "1.0.0" } 반환하도록 수정</a:t>
            </a:r>
          </a:p>
          <a:p>
            <a:pPr marL="0" indent="0">
              <a:buNone/>
            </a:pPr>
            <a:endParaRPr lang="ko-KR" sz="800"/>
          </a:p>
          <a:p>
            <a:pPr marL="0" indent="0">
              <a:buNone/>
            </a:pPr>
            <a:r>
              <a:rPr lang="ko-KR" sz="1800" b="1" dirty="0"/>
              <a:t>핵심 단계</a:t>
            </a:r>
          </a:p>
          <a:p>
            <a:pPr marL="285750" indent="-285750">
              <a:buFont typeface="Arial"/>
              <a:buAutoNum type="arabicPeriod"/>
            </a:pPr>
            <a:r>
              <a:rPr lang="ko-KR" sz="1500" dirty="0"/>
              <a:t>Manager: </a:t>
            </a:r>
            <a:r>
              <a:rPr lang="en-US" sz="1500" dirty="0">
                <a:latin typeface="Consolas"/>
              </a:rPr>
              <a:t>gh issue create --title "..." --body "..."</a:t>
            </a:r>
          </a:p>
          <a:p>
            <a:pPr marL="285750" indent="-285750">
              <a:buFont typeface="Arial"/>
              <a:buAutoNum type="arabicPeriod"/>
            </a:pPr>
            <a:r>
              <a:rPr lang="ko-KR" sz="1500" dirty="0"/>
              <a:t>Worker 계정 전환 (gh auth logout / login) → 작성자 정보 변경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500" dirty="0">
                <a:latin typeface="Consolas"/>
              </a:rPr>
              <a:t>git checkout -b vibe/worker/backend-health-version-2</a:t>
            </a:r>
          </a:p>
          <a:p>
            <a:pPr marL="285750" indent="-285750">
              <a:buFont typeface="Arial"/>
              <a:buAutoNum type="arabicPeriod"/>
            </a:pPr>
            <a:r>
              <a:rPr lang="ko-KR" sz="1500" dirty="0"/>
              <a:t>코드 수정 → commit → push → </a:t>
            </a:r>
            <a:r>
              <a:rPr lang="en-US" sz="1500" dirty="0">
                <a:latin typeface="Consolas"/>
              </a:rPr>
              <a:t>gh pr create --body "Closes #2"</a:t>
            </a:r>
          </a:p>
          <a:p>
            <a:pPr marL="285750" indent="-285750">
              <a:buFont typeface="Arial"/>
              <a:buAutoNum type="arabicPeriod"/>
            </a:pPr>
            <a:r>
              <a:rPr lang="ko-KR" sz="1500" dirty="0"/>
              <a:t>Manager 복귀 → </a:t>
            </a:r>
            <a:r>
              <a:rPr lang="en-US" sz="1500" dirty="0">
                <a:latin typeface="Consolas"/>
              </a:rPr>
              <a:t>gh pr view / diff / comment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500" dirty="0">
                <a:latin typeface="Consolas"/>
              </a:rPr>
              <a:t>gh pr merge PR_NUMBER --squash --delete-branch</a:t>
            </a:r>
          </a:p>
          <a:p>
            <a:pPr marL="0" indent="0">
              <a:buNone/>
            </a:pPr>
            <a:endParaRPr lang="ko-KR" sz="800"/>
          </a:p>
          <a:p>
            <a:pPr marL="0" indent="0">
              <a:buNone/>
            </a:pPr>
            <a:r>
              <a:rPr lang="ko-KR" sz="1500" i="1" dirty="0">
                <a:solidFill>
                  <a:schemeClr val="accent1"/>
                </a:solidFill>
              </a:rPr>
              <a:t>핵심 포인트. PR body의 "Closes #2" → merge 시 Issue 자동 close</a:t>
            </a:r>
          </a:p>
        </p:txBody>
      </p:sp>
    </p:spTree>
    <p:extLst>
      <p:ext uri="{BB962C8B-B14F-4D97-AF65-F5344CB8AC3E}">
        <p14:creationId xmlns:p14="http://schemas.microsoft.com/office/powerpoint/2010/main" val="2927441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C5E74-10DC-C1B1-E05B-F224E3010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6600" b="1" dirty="0"/>
              <a:t>Q &amp; A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A4F058-C63B-F3A9-93B9-BCF677C3B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ko-KR" sz="2400" dirty="0"/>
              <a:t>감사합니다 — 함께 Vibe Coding 시작해봅시다</a:t>
            </a:r>
          </a:p>
        </p:txBody>
      </p:sp>
    </p:spTree>
    <p:extLst>
      <p:ext uri="{BB962C8B-B14F-4D97-AF65-F5344CB8AC3E}">
        <p14:creationId xmlns:p14="http://schemas.microsoft.com/office/powerpoint/2010/main" val="2220325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4aad6e5-2914-4c97-a4bc-5d5514a232b2}">
  <we:reference id="WA200010001" version="1.0.0.1" store="en-US" storeType="OMEX"/>
  <we:alternateReferences/>
  <we:properties>
    <we:property name="Microsoft.Office.CampaignId" value="&quot;none&quot;"/>
    <we:property name="claude.fileId" value="&quot;2fa29f1e-9cab-4f6a-87ad-05ec9e5f54d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1613</TotalTime>
  <Words>693</Words>
  <Application>Microsoft Office PowerPoint</Application>
  <PresentationFormat>와이드스크린</PresentationFormat>
  <Paragraphs>76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바이브 코딩 AI로 설계하고 지식까지 자산화하는 법</vt:lpstr>
      <vt:lpstr>세미나 취지</vt:lpstr>
      <vt:lpstr>AI 코딩 도구의 기본 원리   |   어떤 도구든 원리는 같습니다</vt:lpstr>
      <vt:lpstr>VS Code &amp; Copilot 바이브 코딩   |   25:00 ~ 45:00 핸즈온</vt:lpstr>
      <vt:lpstr>Google Antigravity로 지식 자산화   |   45:00 ~ 1:05:00</vt:lpstr>
      <vt:lpstr>Snowflake Cortex로 엔터프라이즈 바이브 코딩</vt:lpstr>
      <vt:lpstr>GitHub 협업 핸즈온</vt:lpstr>
      <vt:lpstr>실습 ① Fork 기반 PR 협업</vt:lpstr>
      <vt:lpstr>실습 ② Branch + Issue 기반 PR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최남규</cp:lastModifiedBy>
  <cp:revision>3</cp:revision>
  <dcterms:created xsi:type="dcterms:W3CDTF">2018-06-07T21:39:02Z</dcterms:created>
  <dcterms:modified xsi:type="dcterms:W3CDTF">2026-05-08T09:59:05Z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